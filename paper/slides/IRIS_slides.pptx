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/><Relationship Id="rId3" Type="http://schemas.openxmlformats.org/officeDocument/2006/relationships/image" Target="../media/image9.gif"/><Relationship Id="rId7" Type="http://schemas.openxmlformats.org/officeDocument/2006/relationships/image" Target="../media/image13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gif"/><Relationship Id="rId5" Type="http://schemas.openxmlformats.org/officeDocument/2006/relationships/image" Target="../media/image11.gif"/><Relationship Id="rId4" Type="http://schemas.openxmlformats.org/officeDocument/2006/relationships/image" Target="../media/image10.gif"/><Relationship Id="rId9" Type="http://schemas.openxmlformats.org/officeDocument/2006/relationships/image" Target="../media/image15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F497D"/>
                </a:solidFill>
                <a:latin typeface="Calibri"/>
              </a:rPr>
              <a:t>IRIS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5A5A5A"/>
                </a:solidFill>
                <a:latin typeface="Calibri"/>
              </a:rPr>
              <a:t>A Real-World Benchmark for Inverse Recovery and Identification
of Physical Dynamic Systems from Monocular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5A5A"/>
                </a:solidFill>
                <a:latin typeface="Calibri"/>
              </a:rPr>
              <a:t>ECCV 2026  •  Anonymous Submission #13771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" y="2926080"/>
            <a:ext cx="1554480" cy="87439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516" y="2926080"/>
            <a:ext cx="1554480" cy="87439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876" y="2926080"/>
            <a:ext cx="1554480" cy="87439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236" y="2926080"/>
            <a:ext cx="1554480" cy="87439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596" y="2926080"/>
            <a:ext cx="1554480" cy="87439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1956" y="2926080"/>
            <a:ext cx="1554480" cy="87439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9316" y="2926080"/>
            <a:ext cx="1554480" cy="8743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Motivation: What is Missing?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Calibri"/>
              </a:rPr>
              <a:t>Existing methods suffer from: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Evaluated on synthetic data only
    (cartoon objects, black backgrounds)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Only single-body real-world data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No multi-body or interaction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8416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No standardised evaluation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164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Equation family must be given manually
    at test time (oracle condition)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777240"/>
            <a:ext cx="5577840" cy="3474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81381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Delfys75 — Prior State of the 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24712"/>
            <a:ext cx="5577840" cy="405993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152144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Videos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53067" y="1152144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75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30705"/>
            <a:ext cx="5577840" cy="4059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558137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53067" y="1558137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1080p / 25fps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36699"/>
            <a:ext cx="5577840" cy="405993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1964131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Phenomena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3067" y="1964131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5 (single only)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342692"/>
            <a:ext cx="5577840" cy="4059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2370124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Multi-body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3067" y="2370124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None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748686"/>
            <a:ext cx="5577840" cy="405993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7648" y="2776118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Trials/setting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3067" y="2776118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37560"/>
            <a:ext cx="5577840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337413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IRIS — This 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685032"/>
            <a:ext cx="5577840" cy="405993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27648" y="3712464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Videos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3067" y="3712464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60"/>
                </a:solidFill>
                <a:latin typeface="Calibri"/>
              </a:rPr>
              <a:t>220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091025"/>
            <a:ext cx="5577840" cy="4059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27648" y="4118457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Resolution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3067" y="4118457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60"/>
                </a:solidFill>
                <a:latin typeface="Calibri"/>
              </a:rPr>
              <a:t>4K / 60fps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497019"/>
            <a:ext cx="5577840" cy="405993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27648" y="4524451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Phenomena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53067" y="4524451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60"/>
                </a:solidFill>
                <a:latin typeface="Calibri"/>
              </a:rPr>
              <a:t>8 (multi-body)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903012"/>
            <a:ext cx="5577840" cy="4059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27648" y="4930444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Multi-body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53067" y="4930444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60"/>
                </a:solidFill>
                <a:latin typeface="Calibri"/>
              </a:rPr>
              <a:t>3 novel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309006"/>
            <a:ext cx="5577840" cy="405993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7648" y="5336438"/>
            <a:ext cx="3067812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</a:rPr>
              <a:t>Trials/setting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53067" y="5336438"/>
            <a:ext cx="2231136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06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195054"/>
            <a:ext cx="12188952" cy="7404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IRIS Dataset — 8 Phenomena, 220 Videos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629107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97D"/>
                </a:solidFill>
                <a:latin typeface="Calibri"/>
              </a:rPr>
              <a:t>4K / 60fps  •  10 trials per setting  •  Independently measured ground truth  •  Uncertainty estimates  •  SAM2 segmentation masks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9FFF86E-37DF-34F2-1898-67E482D1B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6" y="884482"/>
            <a:ext cx="2784000" cy="1566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F70DA06-7D47-BD61-9E99-ED906F22385F}"/>
              </a:ext>
            </a:extLst>
          </p:cNvPr>
          <p:cNvSpPr txBox="1"/>
          <p:nvPr/>
        </p:nvSpPr>
        <p:spPr>
          <a:xfrm>
            <a:off x="687339" y="2431945"/>
            <a:ext cx="1769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1F497D"/>
                </a:solidFill>
                <a:latin typeface="Calibri"/>
              </a:rPr>
              <a:t>Dropping ball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B313B8-FC55-EDA3-3CA7-58D11CC64F8F}"/>
              </a:ext>
            </a:extLst>
          </p:cNvPr>
          <p:cNvSpPr txBox="1"/>
          <p:nvPr/>
        </p:nvSpPr>
        <p:spPr>
          <a:xfrm>
            <a:off x="816670" y="2788051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5A5A5A"/>
                </a:solidFill>
                <a:latin typeface="Calibri"/>
              </a:rPr>
              <a:t>g, β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E571E2-7643-EDE6-ED0A-62B12458A630}"/>
              </a:ext>
            </a:extLst>
          </p:cNvPr>
          <p:cNvSpPr txBox="1"/>
          <p:nvPr/>
        </p:nvSpPr>
        <p:spPr>
          <a:xfrm>
            <a:off x="3856293" y="2431945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1F497D"/>
                </a:solidFill>
                <a:latin typeface="Calibri"/>
              </a:rPr>
              <a:t>Falling ball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B8C9DF-6A92-75C1-0340-F50B03285B38}"/>
              </a:ext>
            </a:extLst>
          </p:cNvPr>
          <p:cNvSpPr txBox="1"/>
          <p:nvPr/>
        </p:nvSpPr>
        <p:spPr>
          <a:xfrm>
            <a:off x="3940540" y="2788051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5A5A5A"/>
                </a:solidFill>
                <a:latin typeface="Calibri"/>
              </a:rPr>
              <a:t>g, r₀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636CE1-6782-8137-A609-96EAD2D79F24}"/>
              </a:ext>
            </a:extLst>
          </p:cNvPr>
          <p:cNvSpPr txBox="1"/>
          <p:nvPr/>
        </p:nvSpPr>
        <p:spPr>
          <a:xfrm>
            <a:off x="6787508" y="2427545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1F497D"/>
                </a:solidFill>
                <a:latin typeface="Calibri"/>
              </a:rPr>
              <a:t>Sliding cone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448EA4-0121-8BE5-BC2A-C457552494C0}"/>
              </a:ext>
            </a:extLst>
          </p:cNvPr>
          <p:cNvSpPr txBox="1"/>
          <p:nvPr/>
        </p:nvSpPr>
        <p:spPr>
          <a:xfrm>
            <a:off x="6770598" y="2785861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5A5A5A"/>
                </a:solidFill>
                <a:latin typeface="Calibri"/>
              </a:rPr>
              <a:t>μ, 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3AA1EB-4346-6AB4-8518-3F9ACBD770D2}"/>
              </a:ext>
            </a:extLst>
          </p:cNvPr>
          <p:cNvSpPr txBox="1"/>
          <p:nvPr/>
        </p:nvSpPr>
        <p:spPr>
          <a:xfrm>
            <a:off x="9770955" y="2427545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1F497D"/>
                </a:solidFill>
                <a:latin typeface="Calibri"/>
              </a:rPr>
              <a:t>Rotating cone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89C56C-EA23-8E7D-03E5-5375D629C6F1}"/>
              </a:ext>
            </a:extLst>
          </p:cNvPr>
          <p:cNvSpPr txBox="1"/>
          <p:nvPr/>
        </p:nvSpPr>
        <p:spPr>
          <a:xfrm>
            <a:off x="9879403" y="2788051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5A5A5A"/>
                </a:solidFill>
                <a:latin typeface="Calibri"/>
              </a:rPr>
              <a:t>α, β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8B699C-E265-6396-E596-CFF632F327ED}"/>
              </a:ext>
            </a:extLst>
          </p:cNvPr>
          <p:cNvSpPr txBox="1"/>
          <p:nvPr/>
        </p:nvSpPr>
        <p:spPr>
          <a:xfrm>
            <a:off x="798458" y="5154351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1F497D"/>
                </a:solidFill>
                <a:latin typeface="Calibri"/>
              </a:rPr>
              <a:t>Hitting cones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332B5D-3C9F-4E42-AAA2-F2C198CF27BA}"/>
              </a:ext>
            </a:extLst>
          </p:cNvPr>
          <p:cNvSpPr txBox="1"/>
          <p:nvPr/>
        </p:nvSpPr>
        <p:spPr>
          <a:xfrm>
            <a:off x="819680" y="5497230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5A5A5A"/>
                </a:solidFill>
                <a:latin typeface="Calibri"/>
              </a:rPr>
              <a:t>κ, ζ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ECD67C-8F3C-05C7-6529-2778C1311A5D}"/>
              </a:ext>
            </a:extLst>
          </p:cNvPr>
          <p:cNvSpPr txBox="1"/>
          <p:nvPr/>
        </p:nvSpPr>
        <p:spPr>
          <a:xfrm>
            <a:off x="3239361" y="5161703"/>
            <a:ext cx="2612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1F497D"/>
                </a:solidFill>
                <a:latin typeface="Calibri"/>
              </a:rPr>
              <a:t>Two moving pendulums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B8B4C4-40DD-67A3-6750-00AC929F99EB}"/>
              </a:ext>
            </a:extLst>
          </p:cNvPr>
          <p:cNvSpPr txBox="1"/>
          <p:nvPr/>
        </p:nvSpPr>
        <p:spPr>
          <a:xfrm>
            <a:off x="3772899" y="5500906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5A5A5A"/>
                </a:solidFill>
                <a:latin typeface="Calibri"/>
              </a:rPr>
              <a:t>Lᵢ, ζᵢ, κᵢⱼ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AF469E-10B7-FD9B-4DA7-F1E7EDDB4767}"/>
              </a:ext>
            </a:extLst>
          </p:cNvPr>
          <p:cNvSpPr txBox="1"/>
          <p:nvPr/>
        </p:nvSpPr>
        <p:spPr>
          <a:xfrm>
            <a:off x="6466628" y="5161703"/>
            <a:ext cx="2179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1F497D"/>
                </a:solidFill>
                <a:latin typeface="Calibri"/>
              </a:rPr>
              <a:t>One static pendulum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F45557-A6B9-B6FB-8436-75B53ACD1C61}"/>
              </a:ext>
            </a:extLst>
          </p:cNvPr>
          <p:cNvSpPr txBox="1"/>
          <p:nvPr/>
        </p:nvSpPr>
        <p:spPr>
          <a:xfrm>
            <a:off x="6783000" y="5497230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5A5A5A"/>
                </a:solidFill>
                <a:latin typeface="Calibri"/>
              </a:rPr>
              <a:t>Lᵢ, ζᵢ, κᵢⱼ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2167F05-5669-C3BA-EB7E-C9CB7337F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4023" y="896112"/>
            <a:ext cx="2779200" cy="15633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E6E4D3E-A8A2-BE0B-3C99-897F62601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968" y="896112"/>
            <a:ext cx="2779200" cy="156329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C0ED14D-AD54-163A-B300-30ED64052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126" y="3614240"/>
            <a:ext cx="2784000" cy="1566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7486066-6571-03B3-9D50-C1415E8B2E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4995" y="920594"/>
            <a:ext cx="2779200" cy="15633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C64BD5A-89DE-C77D-79A9-706C913E0A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7699" y="3616940"/>
            <a:ext cx="2779200" cy="15633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1C6A2250-96F6-6637-04C2-64F1C03623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5968" y="3616940"/>
            <a:ext cx="2779200" cy="15633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1D69C5B-4401-5CF8-70D5-54A823EB4E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4023" y="3633243"/>
            <a:ext cx="2750217" cy="1546997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55E0BDEC-812C-2D2D-E9B2-7E5CD70C156C}"/>
              </a:ext>
            </a:extLst>
          </p:cNvPr>
          <p:cNvSpPr txBox="1"/>
          <p:nvPr/>
        </p:nvSpPr>
        <p:spPr>
          <a:xfrm>
            <a:off x="9381157" y="5154351"/>
            <a:ext cx="2179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i="0" dirty="0">
                <a:solidFill>
                  <a:srgbClr val="1F497D"/>
                </a:solidFill>
                <a:latin typeface="Calibri"/>
              </a:rPr>
              <a:t>Single Pendulum</a:t>
            </a:r>
            <a:endParaRPr b="1" i="0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A18583-4BCD-1505-B193-1F433725BF60}"/>
              </a:ext>
            </a:extLst>
          </p:cNvPr>
          <p:cNvSpPr txBox="1"/>
          <p:nvPr/>
        </p:nvSpPr>
        <p:spPr>
          <a:xfrm>
            <a:off x="9698055" y="5500906"/>
            <a:ext cx="154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5A5A5A"/>
                </a:solidFill>
                <a:latin typeface="Calibri"/>
              </a:rPr>
              <a:t>Lᵢ, ζᵢ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Standardised Evaluation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Calibri"/>
              </a:rPr>
              <a:t>Train-per-clip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Each video clip trained independently from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No parameter sharing across clips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751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Fixed random seed (42) for reproducibility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82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Equation family selected automatically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777240"/>
            <a:ext cx="576072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8046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ODE Bank (5 families)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161288"/>
            <a:ext cx="5760720" cy="4754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216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Dropping / Falling ball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2161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0000"/>
                </a:solidFill>
                <a:latin typeface="Calibri"/>
              </a:rPr>
              <a:t>z'' + βz' + αz =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121615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060"/>
                </a:solidFill>
                <a:latin typeface="Calibri"/>
              </a:rPr>
              <a:t>g = 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636776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16916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Pendulum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691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0000"/>
                </a:solidFill>
                <a:latin typeface="Calibri"/>
              </a:rPr>
              <a:t>θ'' + ζθ' + (g/L)sinθ =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16916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060"/>
                </a:solidFill>
                <a:latin typeface="Calibri"/>
              </a:rPr>
              <a:t>L = g/α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112264"/>
            <a:ext cx="5760720" cy="4754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21671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Rotating cone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1671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0000"/>
                </a:solidFill>
                <a:latin typeface="Calibri"/>
              </a:rPr>
              <a:t>φ'' + βφ' + αφ =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21671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060"/>
                </a:solidFill>
                <a:latin typeface="Calibri"/>
              </a:rPr>
              <a:t>α, β direct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587752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0" y="264261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Sliding cone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6426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0000"/>
                </a:solidFill>
                <a:latin typeface="Calibri"/>
              </a:rPr>
              <a:t>Constant acceleration block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264261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060"/>
                </a:solidFill>
                <a:latin typeface="Calibri"/>
              </a:rPr>
              <a:t>μ = 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063240"/>
            <a:ext cx="5760720" cy="4754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0" y="311810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Multi-body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1181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0000"/>
                </a:solidFill>
                <a:latin typeface="Calibri"/>
              </a:rPr>
              <a:t>Graph ODE + coupling κᵢⱼ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311810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060"/>
                </a:solidFill>
                <a:latin typeface="Calibri"/>
              </a:rPr>
              <a:t>κᵢⱼ fitted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F808DCA-B1B5-624D-29AA-361DC2498C55}"/>
              </a:ext>
            </a:extLst>
          </p:cNvPr>
          <p:cNvGrpSpPr/>
          <p:nvPr/>
        </p:nvGrpSpPr>
        <p:grpSpPr>
          <a:xfrm>
            <a:off x="274320" y="3236976"/>
            <a:ext cx="5486400" cy="2350008"/>
            <a:chOff x="365760" y="2916158"/>
            <a:chExt cx="5486400" cy="2350008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8B3F872-CBFA-8F39-28CA-D356A57663D9}"/>
                </a:ext>
              </a:extLst>
            </p:cNvPr>
            <p:cNvSpPr txBox="1"/>
            <p:nvPr/>
          </p:nvSpPr>
          <p:spPr>
            <a:xfrm>
              <a:off x="365760" y="2916158"/>
              <a:ext cx="53035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F497D"/>
                  </a:solidFill>
                  <a:latin typeface="Calibri"/>
                </a:rPr>
                <a:t>Five evaluation axes: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1E40B8D-AC97-58D4-EC86-46AC0ED2152F}"/>
                </a:ext>
              </a:extLst>
            </p:cNvPr>
            <p:cNvSpPr txBox="1"/>
            <p:nvPr/>
          </p:nvSpPr>
          <p:spPr>
            <a:xfrm>
              <a:off x="457200" y="3327638"/>
              <a:ext cx="25603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>
                  <a:solidFill>
                    <a:srgbClr val="1F497D"/>
                  </a:solidFill>
                  <a:latin typeface="Calibri"/>
                </a:rPr>
                <a:t>1.  Parameter accuracy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7357F19-576C-BCAE-ED2E-1ABCDB58FD6A}"/>
                </a:ext>
              </a:extLst>
            </p:cNvPr>
            <p:cNvSpPr txBox="1"/>
            <p:nvPr/>
          </p:nvSpPr>
          <p:spPr>
            <a:xfrm>
              <a:off x="3108960" y="3327638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5A5A5A"/>
                  </a:solidFill>
                  <a:latin typeface="Calibri"/>
                </a:rPr>
                <a:t>MAE vs. ground truth (primary)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1E52103-41D3-950E-2B1E-CB8FB440ED13}"/>
                </a:ext>
              </a:extLst>
            </p:cNvPr>
            <p:cNvSpPr txBox="1"/>
            <p:nvPr/>
          </p:nvSpPr>
          <p:spPr>
            <a:xfrm>
              <a:off x="457200" y="3720830"/>
              <a:ext cx="25603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1F497D"/>
                  </a:solidFill>
                  <a:latin typeface="Calibri"/>
                </a:rPr>
                <a:t>2.  Equation selection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EA6600E-B2B3-DD84-47AB-F0D07D62BACB}"/>
                </a:ext>
              </a:extLst>
            </p:cNvPr>
            <p:cNvSpPr txBox="1"/>
            <p:nvPr/>
          </p:nvSpPr>
          <p:spPr>
            <a:xfrm>
              <a:off x="3108960" y="3720830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5A5A5A"/>
                  </a:solidFill>
                  <a:latin typeface="Calibri"/>
                </a:rPr>
                <a:t>Classification accuracy + confusion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A1120EF-780D-9415-8D2B-1C67ED6D32FC}"/>
                </a:ext>
              </a:extLst>
            </p:cNvPr>
            <p:cNvSpPr txBox="1"/>
            <p:nvPr/>
          </p:nvSpPr>
          <p:spPr>
            <a:xfrm>
              <a:off x="457200" y="4114022"/>
              <a:ext cx="25603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1F497D"/>
                  </a:solidFill>
                  <a:latin typeface="Calibri"/>
                </a:rPr>
                <a:t>3.  Identifiability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E00C41E-EE9B-396E-35FF-ABBF402B3903}"/>
                </a:ext>
              </a:extLst>
            </p:cNvPr>
            <p:cNvSpPr txBox="1"/>
            <p:nvPr/>
          </p:nvSpPr>
          <p:spPr>
            <a:xfrm>
              <a:off x="3108960" y="4114022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5A5A5A"/>
                  </a:solidFill>
                  <a:latin typeface="Calibri"/>
                </a:rPr>
                <a:t>Gradient norms, ODE residual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60C2CB0-AF96-6861-3F64-983D3AF45AC7}"/>
                </a:ext>
              </a:extLst>
            </p:cNvPr>
            <p:cNvSpPr txBox="1"/>
            <p:nvPr/>
          </p:nvSpPr>
          <p:spPr>
            <a:xfrm>
              <a:off x="457200" y="4507214"/>
              <a:ext cx="25603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>
                  <a:solidFill>
                    <a:srgbClr val="1F497D"/>
                  </a:solidFill>
                  <a:latin typeface="Calibri"/>
                </a:rPr>
                <a:t>4.  Robustness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EA6D051-0DDF-930E-A67B-30CCC7D9F09D}"/>
                </a:ext>
              </a:extLst>
            </p:cNvPr>
            <p:cNvSpPr txBox="1"/>
            <p:nvPr/>
          </p:nvSpPr>
          <p:spPr>
            <a:xfrm>
              <a:off x="3108960" y="4507214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5A5A5A"/>
                  </a:solidFill>
                  <a:latin typeface="Calibri"/>
                </a:rPr>
                <a:t>Consistency across configurations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0E0C417-23CE-8E69-434A-1B4867B41D53}"/>
                </a:ext>
              </a:extLst>
            </p:cNvPr>
            <p:cNvSpPr txBox="1"/>
            <p:nvPr/>
          </p:nvSpPr>
          <p:spPr>
            <a:xfrm>
              <a:off x="457200" y="4900406"/>
              <a:ext cx="25603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>
                  <a:solidFill>
                    <a:srgbClr val="1F497D"/>
                  </a:solidFill>
                  <a:latin typeface="Calibri"/>
                </a:rPr>
                <a:t>5.  Extrapolation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01B20CE-4F00-F12F-89A0-A002510B1691}"/>
                </a:ext>
              </a:extLst>
            </p:cNvPr>
            <p:cNvSpPr txBox="1"/>
            <p:nvPr/>
          </p:nvSpPr>
          <p:spPr>
            <a:xfrm>
              <a:off x="3108960" y="4900406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5A5A5A"/>
                  </a:solidFill>
                  <a:latin typeface="Calibri"/>
                </a:rPr>
                <a:t>Prediction beyond training horizon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Key Finding: Critical Gradient-Flow Bug in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C00000"/>
                </a:solidFill>
                <a:latin typeface="Calibri"/>
              </a:rPr>
              <a:t>Original Euler step (Garcia et al. 2025):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1005840"/>
          </a:xfrm>
          <a:prstGeom prst="rect">
            <a:avLst/>
          </a:prstGeom>
          <a:solidFill>
            <a:srgbClr val="FFF0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00000"/>
                </a:solidFill>
                <a:latin typeface="Calibri"/>
              </a:rPr>
              <a:t>ż(t+1)  =  ż(t)  +  Δt · z̈(t)
z(t+1)  =  z(t)  +  Δt · ż(t)      ← Missing term!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Missing  Δt² · z̈(t)  →  ∂z(t+1)/∂γ = 0
Physics parameters receive ZERO gradient throughout training.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54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060"/>
                </a:solidFill>
                <a:latin typeface="Calibri"/>
              </a:rPr>
              <a:t>Corrected Euler-Cromer step: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66160"/>
            <a:ext cx="5394960" cy="1005840"/>
          </a:xfrm>
          <a:prstGeom prst="rect">
            <a:avLst/>
          </a:prstGeom>
          <a:solidFill>
            <a:srgbClr val="F0F8F0"/>
          </a:solidFill>
          <a:ln w="1270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639312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8060"/>
                </a:solidFill>
                <a:latin typeface="Calibri"/>
              </a:rPr>
              <a:t>ż(t+1)  =  ż(t)  +  Δt · z̈(t)
z(t+1)  =  z(t)  +  Δt · ż(t)  +  Δt² · z̈(t)  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70916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Benchmark evaluation exposed this bug — demonstrating the
diagnostic value of rigorous real-world benchmarking.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777240"/>
            <a:ext cx="576072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8229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Impact on Delfys75 — Parameter MAE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5760720" cy="347472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12070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Setting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2070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Param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2070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Original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12070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Fixed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12070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Δ MAE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536192"/>
            <a:ext cx="5760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15910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pendulum_45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5910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L [m]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5910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95.07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5910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3.80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15910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-91.3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975104"/>
            <a:ext cx="5760720" cy="4389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0299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pendulum_90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029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L [m]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0299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50.15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0299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2.93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2029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-47.2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414016"/>
            <a:ext cx="5760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72200" y="246888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pendulum_150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4688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L [m]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4688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29.83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4688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0.71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24688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-29.1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2852928"/>
            <a:ext cx="5760720" cy="4389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72200" y="29077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LED 2s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29077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9077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2.30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9077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0.40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29077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-1.90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3291840"/>
            <a:ext cx="5760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72200" y="33467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Torricelli lg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33467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334670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6.07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334670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2.91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0" y="33467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-3.16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730752"/>
            <a:ext cx="5760720" cy="4389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72200" y="37856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Torricelli sm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37856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37856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0000"/>
                </a:solidFill>
                <a:latin typeface="Calibri"/>
              </a:rPr>
              <a:t>7.67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7856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5.69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98480" y="37856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-1.99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Equation Identification: VLM vs. CNN vs. Path-Based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Calibri"/>
              </a:rPr>
              <a:t>Why automatic identification matters: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Garcia et al. use path-based oracle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    — requires manual labelling per clip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7510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IRIS benchmarks 4 automatic routing strategies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829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•  Goal: remove human-in-the-loop for equation routing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557784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7797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797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Delfys75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7797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IRIS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27248"/>
            <a:ext cx="5577840" cy="438912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18211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CNN (in-distribution)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82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98.4%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182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060"/>
                </a:solidFill>
                <a:latin typeface="Calibri"/>
              </a:rPr>
              <a:t>99.3%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5577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6210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VLM temporal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210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73.3%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6210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65.0%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05072"/>
            <a:ext cx="5577840" cy="438912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05993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VLM describe-then-classify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99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61.1%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0599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72.9%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43984"/>
            <a:ext cx="5577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Path-based (oracle)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4988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4988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777240"/>
            <a:ext cx="557784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81381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Key Insight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161288"/>
            <a:ext cx="5577840" cy="1371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1207008"/>
            <a:ext cx="53949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00000"/>
                </a:solidFill>
                <a:latin typeface="Calibri"/>
              </a:rPr>
              <a:t>VLM ranking REVERSES across benchmarks:
Temporal reasoning wins on Delfys75</a:t>
            </a:r>
            <a:r>
              <a:rPr lang="en-GB" sz="14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000000"/>
                </a:solidFill>
                <a:latin typeface="Calibri"/>
              </a:rPr>
              <a:t>(familiar, single-body phenomena)
Describe-then-classify wins on IRIS</a:t>
            </a:r>
            <a:r>
              <a:rPr lang="en-GB" sz="14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000000"/>
                </a:solidFill>
                <a:latin typeface="Calibri"/>
              </a:rPr>
              <a:t>(diverse, multi-body phenomena)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697480"/>
            <a:ext cx="557784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27340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CNN vs. VLM Trade-off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081528"/>
            <a:ext cx="5577840" cy="128016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3127248"/>
            <a:ext cx="5394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00000"/>
                </a:solidFill>
                <a:latin typeface="Calibri"/>
              </a:rPr>
              <a:t>CNN achieves near-perfect accuracy in-distribution</a:t>
            </a:r>
            <a:r>
              <a:rPr lang="en-GB" sz="14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GB" sz="1400" b="1" i="0" dirty="0">
                <a:solidFill>
                  <a:srgbClr val="000000"/>
                </a:solidFill>
                <a:latin typeface="Calibri"/>
              </a:rPr>
              <a:t>BUT</a:t>
            </a:r>
            <a:r>
              <a:rPr sz="1400" b="0" i="0" dirty="0">
                <a:solidFill>
                  <a:srgbClr val="000000"/>
                </a:solidFill>
                <a:latin typeface="Calibri"/>
              </a:rPr>
              <a:t> cannot </a:t>
            </a:r>
            <a:r>
              <a:rPr sz="1400" b="0" i="0" dirty="0" err="1">
                <a:solidFill>
                  <a:srgbClr val="000000"/>
                </a:solidFill>
                <a:latin typeface="Calibri"/>
              </a:rPr>
              <a:t>generalise</a:t>
            </a:r>
            <a:r>
              <a:rPr sz="1400" b="0" i="0" dirty="0">
                <a:solidFill>
                  <a:srgbClr val="000000"/>
                </a:solidFill>
                <a:latin typeface="Calibri"/>
              </a:rPr>
              <a:t> to unseen phenomena</a:t>
            </a:r>
            <a:r>
              <a:rPr lang="en-GB" sz="14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000000"/>
                </a:solidFill>
                <a:latin typeface="Calibri"/>
              </a:rPr>
              <a:t>without full retraining.
VLMs operate zero-shot across any phenomenon set.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526280"/>
            <a:ext cx="5577840" cy="9144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6177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A06000"/>
                </a:solidFill>
                <a:latin typeface="Calibri"/>
              </a:rPr>
              <a:t>First systematic comparison of automatic
equation routing for physics estimation.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Summary and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7772400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13816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1. IRIS Benchmark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24712"/>
            <a:ext cx="7772400" cy="74980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220 real-world 4K/60fps videos · 8 dynamical systems · 3 novel multi-body scenarios
Independently measured ground truth with uncertainty estimates · 10 trials per setting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7772400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48256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2. Standardised Protocol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59152"/>
            <a:ext cx="7772400" cy="74980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39572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5 evaluation axes (accuracy, equation selection, identifiability, robustness, extrapolation)
Train-per-clip · fixed seeds · fully traceable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7772400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282696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3. Equation-ID Benchmark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93592"/>
            <a:ext cx="7772400" cy="74980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63016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First systematic comparison of 4 routing strategies
VLM ranking reverses across benchmarks · CNN generalisation bottleneck identified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80560"/>
            <a:ext cx="7772400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517136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4. Diagnostic Findings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28032"/>
            <a:ext cx="7772400" cy="74980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86460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Gradient-flow bug in state-of-the-art pipeline fixed (+91m improvement on pendulum)
Multi-step loss catastrophically unstable on multi-body dynamics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777240"/>
            <a:ext cx="347472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8138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Open Challenges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1188720"/>
            <a:ext cx="3474720" cy="47548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0" y="124358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00000"/>
                </a:solidFill>
                <a:latin typeface="Calibri"/>
              </a:rPr>
              <a:t>• VLM routing: 65–73% (far from oracle)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1700784"/>
            <a:ext cx="3474720" cy="47548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0" y="17556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00000"/>
                </a:solidFill>
                <a:latin typeface="Calibri"/>
              </a:rPr>
              <a:t>• Damping poorly identifiable across all methods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2212848"/>
            <a:ext cx="3474720" cy="47548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2267712"/>
            <a:ext cx="32918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00" dirty="0">
                <a:solidFill>
                  <a:srgbClr val="C00000"/>
                </a:solidFill>
              </a:rPr>
              <a:t>• Latent-to-SI calibration is phenomenon-specific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724912"/>
            <a:ext cx="3474720" cy="47548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2779776"/>
            <a:ext cx="3657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00" dirty="0">
                <a:solidFill>
                  <a:srgbClr val="C00000"/>
                </a:solidFill>
              </a:rPr>
              <a:t>• Additional motions to add: multi objects colliding, and Torricelli experiment on multi object</a:t>
            </a:r>
            <a:endParaRPr sz="1300" b="0" i="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412480" y="3429000"/>
            <a:ext cx="3474720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0" y="346557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3813048"/>
            <a:ext cx="3474720" cy="100584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20" y="385876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497D"/>
                </a:solidFill>
                <a:latin typeface="Calibri"/>
              </a:rPr>
              <a:t>Dataset · Annotations
Evaluation toolkit
All baseline implementations
CC BY 4.0 upon acceptance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F497D"/>
                </a:solidFill>
                <a:latin typeface="Calibri"/>
              </a:rPr>
              <a:t>Thank You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" y="1463040"/>
            <a:ext cx="1554480" cy="87439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516" y="1463040"/>
            <a:ext cx="1554480" cy="87439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876" y="1463040"/>
            <a:ext cx="1554480" cy="87439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236" y="1463040"/>
            <a:ext cx="1554480" cy="87439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596" y="1463040"/>
            <a:ext cx="1554480" cy="87439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1956" y="1463040"/>
            <a:ext cx="1554480" cy="87439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9316" y="1463040"/>
            <a:ext cx="1554480" cy="8743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97D"/>
                </a:solidFill>
                <a:latin typeface="Calibri"/>
              </a:rPr>
              <a:t>IRIS  ·  220 videos  ·  8 phenomena  ·  4K/60fps  ·  Open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A5A5A"/>
                </a:solidFill>
                <a:latin typeface="Calibri"/>
              </a:rPr>
              <a:t>ECCV 2026  •  Submission #13771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921</Words>
  <Application>Microsoft Office PowerPoint</Application>
  <PresentationFormat>Custom</PresentationFormat>
  <Paragraphs>171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Rasul Khanbayov</cp:lastModifiedBy>
  <cp:revision>7</cp:revision>
  <dcterms:created xsi:type="dcterms:W3CDTF">2013-01-27T09:14:16Z</dcterms:created>
  <dcterms:modified xsi:type="dcterms:W3CDTF">2026-03-12T20:17:25Z</dcterms:modified>
  <cp:category/>
</cp:coreProperties>
</file>